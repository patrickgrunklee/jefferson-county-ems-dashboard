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itch_slide1_anchor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822960"/>
            <a:ext cx="1170432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11111"/>
                </a:solidFill>
                <a:latin typeface="Calibri"/>
              </a:rPr>
              <a:t>ISyE 450 Capstone — Jefferson County 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137160"/>
            <a:ext cx="320040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0" i="1">
                <a:solidFill>
                  <a:srgbClr val="555555"/>
                </a:solidFill>
                <a:latin typeface="Calibri"/>
              </a:rPr>
              <a:t>Team: [Your names here]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37960"/>
            <a:ext cx="11430000" cy="2743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777777"/>
                </a:solidFill>
                <a:latin typeface="Calibri"/>
              </a:rPr>
              <a:t>Data: CY2024 NFIRS (n=8,396 EMS calls, Jefferson geography) · P-Median optimization · OpenRouteService road-network isochrones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11111"/>
                </a:solidFill>
                <a:latin typeface="Calibri"/>
              </a:rPr>
              <a:t>The Bottleneck: 12 Half-Empty Systems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555555"/>
                </a:solidFill>
                <a:latin typeface="Calibri"/>
              </a:rPr>
              <a:t>Each of Jefferson County's 12 departments funds its own backup ambulance — used 10–15% of the time, yet still leaving 41 coverage gaps per year.</a:t>
            </a:r>
          </a:p>
        </p:txBody>
      </p:sp>
      <p:pic>
        <p:nvPicPr>
          <p:cNvPr id="4" name="Picture 3" descr="secondary_demand_by_dept_jeff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589520" cy="47548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229600" y="1737360"/>
            <a:ext cx="3566160" cy="4572000"/>
          </a:xfrm>
          <a:prstGeom prst="roundRect">
            <a:avLst/>
          </a:prstGeom>
          <a:solidFill>
            <a:srgbClr val="FFF5F5"/>
          </a:solidFill>
          <a:ln w="25400">
            <a:solidFill>
              <a:srgbClr val="B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412480" y="1874519"/>
            <a:ext cx="320040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B22222"/>
                </a:solidFill>
                <a:latin typeface="Calibri"/>
              </a:rPr>
              <a:t>THE KEY NUMBERS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2331720"/>
            <a:ext cx="3200400" cy="3840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B22222"/>
                </a:solidFill>
                <a:latin typeface="Calibri"/>
              </a:rPr>
              <a:t>21</a:t>
            </a:r>
          </a:p>
          <a:p>
            <a:pPr algn="l">
              <a:spcAft>
                <a:spcPts val="1200"/>
              </a:spcAft>
            </a:pPr>
            <a:r>
              <a:rPr sz="1100" b="0" i="1">
                <a:solidFill>
                  <a:srgbClr val="555555"/>
                </a:solidFill>
                <a:latin typeface="Calibri"/>
              </a:rPr>
              <a:t>all-busy events / year
in Ixonia (≈ once / 2.5 weeks)</a:t>
            </a:r>
          </a:p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B22222"/>
                </a:solidFill>
                <a:latin typeface="Calibri"/>
              </a:rPr>
              <a:t>12</a:t>
            </a:r>
          </a:p>
          <a:p>
            <a:pPr algn="l">
              <a:spcAft>
                <a:spcPts val="1200"/>
              </a:spcAft>
            </a:pPr>
            <a:r>
              <a:rPr sz="1100" b="0" i="1">
                <a:solidFill>
                  <a:srgbClr val="555555"/>
                </a:solidFill>
                <a:latin typeface="Calibri"/>
              </a:rPr>
              <a:t>all-busy events / year
in Waterloo</a:t>
            </a:r>
          </a:p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B22222"/>
                </a:solidFill>
                <a:latin typeface="Calibri"/>
              </a:rPr>
              <a:t>41</a:t>
            </a:r>
          </a:p>
          <a:p>
            <a:pPr algn="l"/>
            <a:r>
              <a:rPr sz="1100" b="0" i="1">
                <a:solidFill>
                  <a:srgbClr val="555555"/>
                </a:solidFill>
                <a:latin typeface="Calibri"/>
              </a:rPr>
              <a:t>countywide — NO ambulance
was available for that 911 call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537960"/>
            <a:ext cx="11430000" cy="2743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777777"/>
                </a:solidFill>
                <a:latin typeface="Calibri"/>
              </a:rPr>
              <a:t>Source: CY2024 NFIRS concurrent-call analysis · Jefferson County geography only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11111"/>
                </a:solidFill>
                <a:latin typeface="Calibri"/>
              </a:rPr>
              <a:t>The IE Intervention: Hybrid Local + Regional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2C7FB8"/>
                </a:solidFill>
                <a:latin typeface="Calibri"/>
              </a:rPr>
              <a:t>Primaries stay local. Secondaries go regional. Dispatch routes whichever unit reaches the patient fastest.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5303520" cy="4572000"/>
          </a:xfrm>
          <a:prstGeom prst="roundRect">
            <a:avLst/>
          </a:prstGeom>
          <a:solidFill>
            <a:srgbClr val="FFF5F5"/>
          </a:solidFill>
          <a:ln w="25400">
            <a:solidFill>
              <a:srgbClr val="B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530352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B22222"/>
                </a:solidFill>
                <a:latin typeface="Calibri"/>
              </a:rPr>
              <a:t>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530352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1">
                <a:solidFill>
                  <a:srgbClr val="555555"/>
                </a:solidFill>
                <a:latin typeface="Calibri"/>
              </a:rPr>
              <a:t>12 independent departments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19" y="2697480"/>
            <a:ext cx="96012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17219" y="2788920"/>
            <a:ext cx="960120" cy="2743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B22222"/>
                </a:solidFill>
                <a:latin typeface="Calibri"/>
              </a:rPr>
              <a:t>Dept 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5819" y="3108960"/>
            <a:ext cx="502920" cy="502920"/>
          </a:xfrm>
          <a:prstGeom prst="roundRect">
            <a:avLst/>
          </a:prstGeom>
          <a:solidFill>
            <a:srgbClr val="B22222"/>
          </a:solidFill>
          <a:ln w="6350">
            <a:solidFill>
              <a:srgbClr val="B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17219" y="3657600"/>
            <a:ext cx="960120" cy="2743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111111"/>
                </a:solidFill>
                <a:latin typeface="Calibri"/>
              </a:rPr>
              <a:t>Primary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5819" y="3931920"/>
            <a:ext cx="50292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17219" y="4480560"/>
            <a:ext cx="960120" cy="2743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777777"/>
                </a:solidFill>
                <a:latin typeface="Calibri"/>
              </a:rPr>
              <a:t>Backup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23060" y="2697480"/>
            <a:ext cx="96012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623060" y="2788920"/>
            <a:ext cx="960120" cy="2743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B22222"/>
                </a:solidFill>
                <a:latin typeface="Calibri"/>
              </a:rPr>
              <a:t>Dept 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851660" y="3108960"/>
            <a:ext cx="502920" cy="502920"/>
          </a:xfrm>
          <a:prstGeom prst="roundRect">
            <a:avLst/>
          </a:prstGeom>
          <a:solidFill>
            <a:srgbClr val="B22222"/>
          </a:solidFill>
          <a:ln w="6350">
            <a:solidFill>
              <a:srgbClr val="B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623060" y="3657600"/>
            <a:ext cx="960120" cy="2743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111111"/>
                </a:solidFill>
                <a:latin typeface="Calibri"/>
              </a:rPr>
              <a:t>Primary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851660" y="3931920"/>
            <a:ext cx="50292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623060" y="4480560"/>
            <a:ext cx="960120" cy="2743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777777"/>
                </a:solidFill>
                <a:latin typeface="Calibri"/>
              </a:rPr>
              <a:t>Backup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28900" y="2697480"/>
            <a:ext cx="96012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2628900" y="2788920"/>
            <a:ext cx="960120" cy="2743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B22222"/>
                </a:solidFill>
                <a:latin typeface="Calibri"/>
              </a:rPr>
              <a:t>Dept 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57500" y="3108960"/>
            <a:ext cx="502920" cy="502920"/>
          </a:xfrm>
          <a:prstGeom prst="roundRect">
            <a:avLst/>
          </a:prstGeom>
          <a:solidFill>
            <a:srgbClr val="B22222"/>
          </a:solidFill>
          <a:ln w="6350">
            <a:solidFill>
              <a:srgbClr val="B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628900" y="3657600"/>
            <a:ext cx="960120" cy="2743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111111"/>
                </a:solidFill>
                <a:latin typeface="Calibri"/>
              </a:rPr>
              <a:t>Primary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857500" y="3931920"/>
            <a:ext cx="50292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628900" y="4480560"/>
            <a:ext cx="960120" cy="2743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777777"/>
                </a:solidFill>
                <a:latin typeface="Calibri"/>
              </a:rPr>
              <a:t>Backup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34740" y="2697480"/>
            <a:ext cx="96012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3634740" y="2788920"/>
            <a:ext cx="960120" cy="2743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B22222"/>
                </a:solidFill>
                <a:latin typeface="Calibri"/>
              </a:rPr>
              <a:t>Dept 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63339" y="3108960"/>
            <a:ext cx="502920" cy="502920"/>
          </a:xfrm>
          <a:prstGeom prst="roundRect">
            <a:avLst/>
          </a:prstGeom>
          <a:solidFill>
            <a:srgbClr val="B22222"/>
          </a:solidFill>
          <a:ln w="6350">
            <a:solidFill>
              <a:srgbClr val="B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634740" y="3657600"/>
            <a:ext cx="960120" cy="2743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111111"/>
                </a:solidFill>
                <a:latin typeface="Calibri"/>
              </a:rPr>
              <a:t>Primary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63339" y="3931920"/>
            <a:ext cx="50292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3634740" y="4480560"/>
            <a:ext cx="960120" cy="2743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777777"/>
                </a:solidFill>
                <a:latin typeface="Calibri"/>
              </a:rPr>
              <a:t>Backup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40580" y="2697480"/>
            <a:ext cx="96012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640580" y="2788920"/>
            <a:ext cx="960120" cy="2743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B22222"/>
                </a:solidFill>
                <a:latin typeface="Calibri"/>
              </a:rPr>
              <a:t>Dept 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869180" y="3108960"/>
            <a:ext cx="502920" cy="502920"/>
          </a:xfrm>
          <a:prstGeom prst="roundRect">
            <a:avLst/>
          </a:prstGeom>
          <a:solidFill>
            <a:srgbClr val="B22222"/>
          </a:solidFill>
          <a:ln w="6350">
            <a:solidFill>
              <a:srgbClr val="B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4640580" y="3657600"/>
            <a:ext cx="960120" cy="2743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111111"/>
                </a:solidFill>
                <a:latin typeface="Calibri"/>
              </a:rPr>
              <a:t>Primary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869180" y="3931920"/>
            <a:ext cx="50292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4640580" y="4480560"/>
            <a:ext cx="960120" cy="2743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777777"/>
                </a:solidFill>
                <a:latin typeface="Calibri"/>
              </a:rPr>
              <a:t>Backup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5394960"/>
            <a:ext cx="5303520" cy="7315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1">
                <a:solidFill>
                  <a:srgbClr val="B22222"/>
                </a:solidFill>
                <a:latin typeface="Calibri"/>
              </a:rPr>
              <a:t>Each department funds its own backup.
Still 41 all-busy events per year.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897880" y="3840480"/>
            <a:ext cx="548640" cy="0"/>
          </a:xfrm>
          <a:prstGeom prst="line">
            <a:avLst/>
          </a:prstGeom>
          <a:ln w="50800">
            <a:solidFill>
              <a:srgbClr val="111111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6537960" y="1645920"/>
            <a:ext cx="5212080" cy="4572000"/>
          </a:xfrm>
          <a:prstGeom prst="roundRect">
            <a:avLst/>
          </a:prstGeom>
          <a:solidFill>
            <a:srgbClr val="F0F8FF"/>
          </a:solidFill>
          <a:ln w="25400">
            <a:solidFill>
              <a:srgbClr val="2C7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537960" y="1737360"/>
            <a:ext cx="521208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2C7FB8"/>
                </a:solidFill>
                <a:latin typeface="Calibri"/>
              </a:rPr>
              <a:t>PROPOSED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37960" y="2194560"/>
            <a:ext cx="521208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1">
                <a:solidFill>
                  <a:srgbClr val="555555"/>
                </a:solidFill>
                <a:latin typeface="Calibri"/>
              </a:rPr>
              <a:t>Local primaries + 4 shared regional secondaries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80860" y="2743200"/>
            <a:ext cx="86868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C7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880860" y="2816352"/>
            <a:ext cx="868680" cy="2743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2C7FB8"/>
                </a:solidFill>
                <a:latin typeface="Calibri"/>
              </a:rPr>
              <a:t>Dept A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155180" y="3108960"/>
            <a:ext cx="320040" cy="320040"/>
          </a:xfrm>
          <a:prstGeom prst="roundRect">
            <a:avLst/>
          </a:prstGeom>
          <a:solidFill>
            <a:srgbClr val="2C7FB8"/>
          </a:solidFill>
          <a:ln w="6350">
            <a:solidFill>
              <a:srgbClr val="2C7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ounded Rectangle 44"/>
          <p:cNvSpPr/>
          <p:nvPr/>
        </p:nvSpPr>
        <p:spPr>
          <a:xfrm>
            <a:off x="7795260" y="2743200"/>
            <a:ext cx="86868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C7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795260" y="2816352"/>
            <a:ext cx="868680" cy="2743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2C7FB8"/>
                </a:solidFill>
                <a:latin typeface="Calibri"/>
              </a:rPr>
              <a:t>Dept B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069580" y="3108960"/>
            <a:ext cx="320040" cy="320040"/>
          </a:xfrm>
          <a:prstGeom prst="roundRect">
            <a:avLst/>
          </a:prstGeom>
          <a:solidFill>
            <a:srgbClr val="2C7FB8"/>
          </a:solidFill>
          <a:ln w="6350">
            <a:solidFill>
              <a:srgbClr val="2C7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ounded Rectangle 47"/>
          <p:cNvSpPr/>
          <p:nvPr/>
        </p:nvSpPr>
        <p:spPr>
          <a:xfrm>
            <a:off x="8709660" y="2743200"/>
            <a:ext cx="86868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C7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8709660" y="2816352"/>
            <a:ext cx="868680" cy="2743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2C7FB8"/>
                </a:solidFill>
                <a:latin typeface="Calibri"/>
              </a:rPr>
              <a:t>Dept C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983980" y="3108960"/>
            <a:ext cx="320040" cy="320040"/>
          </a:xfrm>
          <a:prstGeom prst="roundRect">
            <a:avLst/>
          </a:prstGeom>
          <a:solidFill>
            <a:srgbClr val="2C7FB8"/>
          </a:solidFill>
          <a:ln w="6350">
            <a:solidFill>
              <a:srgbClr val="2C7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ounded Rectangle 50"/>
          <p:cNvSpPr/>
          <p:nvPr/>
        </p:nvSpPr>
        <p:spPr>
          <a:xfrm>
            <a:off x="9624060" y="2743200"/>
            <a:ext cx="86868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C7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9624060" y="2816352"/>
            <a:ext cx="868680" cy="2743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2C7FB8"/>
                </a:solidFill>
                <a:latin typeface="Calibri"/>
              </a:rPr>
              <a:t>Dept 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898380" y="3108960"/>
            <a:ext cx="320040" cy="320040"/>
          </a:xfrm>
          <a:prstGeom prst="roundRect">
            <a:avLst/>
          </a:prstGeom>
          <a:solidFill>
            <a:srgbClr val="2C7FB8"/>
          </a:solidFill>
          <a:ln w="6350">
            <a:solidFill>
              <a:srgbClr val="2C7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ounded Rectangle 53"/>
          <p:cNvSpPr/>
          <p:nvPr/>
        </p:nvSpPr>
        <p:spPr>
          <a:xfrm>
            <a:off x="10538460" y="2743200"/>
            <a:ext cx="86868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C7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10538460" y="2816352"/>
            <a:ext cx="868680" cy="2743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2C7FB8"/>
                </a:solidFill>
                <a:latin typeface="Calibri"/>
              </a:rPr>
              <a:t>Dept 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812780" y="3108960"/>
            <a:ext cx="320040" cy="320040"/>
          </a:xfrm>
          <a:prstGeom prst="roundRect">
            <a:avLst/>
          </a:prstGeom>
          <a:solidFill>
            <a:srgbClr val="2C7FB8"/>
          </a:solidFill>
          <a:ln w="6350">
            <a:solidFill>
              <a:srgbClr val="2C7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6537960" y="3703320"/>
            <a:ext cx="521208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1">
                <a:solidFill>
                  <a:srgbClr val="2C7FB8"/>
                </a:solidFill>
                <a:latin typeface="Calibri"/>
              </a:rPr>
              <a:t>Primaries stay local — autonomy preserved</a:t>
            </a:r>
          </a:p>
        </p:txBody>
      </p:sp>
      <p:sp>
        <p:nvSpPr>
          <p:cNvPr id="58" name="5-Point Star 57"/>
          <p:cNvSpPr/>
          <p:nvPr/>
        </p:nvSpPr>
        <p:spPr>
          <a:xfrm>
            <a:off x="7498079" y="4114800"/>
            <a:ext cx="640080" cy="640080"/>
          </a:xfrm>
          <a:prstGeom prst="star5">
            <a:avLst/>
          </a:prstGeom>
          <a:solidFill>
            <a:srgbClr val="B22222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7360919" y="4800600"/>
            <a:ext cx="9144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B22222"/>
                </a:solidFill>
                <a:latin typeface="Calibri"/>
              </a:rPr>
              <a:t>SEC-1</a:t>
            </a:r>
          </a:p>
        </p:txBody>
      </p:sp>
      <p:sp>
        <p:nvSpPr>
          <p:cNvPr id="60" name="5-Point Star 59"/>
          <p:cNvSpPr/>
          <p:nvPr/>
        </p:nvSpPr>
        <p:spPr>
          <a:xfrm>
            <a:off x="8503919" y="4114800"/>
            <a:ext cx="640080" cy="640080"/>
          </a:xfrm>
          <a:prstGeom prst="star5">
            <a:avLst/>
          </a:prstGeom>
          <a:solidFill>
            <a:srgbClr val="B22222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8366759" y="4800600"/>
            <a:ext cx="9144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B22222"/>
                </a:solidFill>
                <a:latin typeface="Calibri"/>
              </a:rPr>
              <a:t>SEC-2</a:t>
            </a:r>
          </a:p>
        </p:txBody>
      </p:sp>
      <p:sp>
        <p:nvSpPr>
          <p:cNvPr id="62" name="5-Point Star 61"/>
          <p:cNvSpPr/>
          <p:nvPr/>
        </p:nvSpPr>
        <p:spPr>
          <a:xfrm>
            <a:off x="9509759" y="4114800"/>
            <a:ext cx="640080" cy="640080"/>
          </a:xfrm>
          <a:prstGeom prst="star5">
            <a:avLst/>
          </a:prstGeom>
          <a:solidFill>
            <a:srgbClr val="B22222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9372599" y="4800600"/>
            <a:ext cx="9144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B22222"/>
                </a:solidFill>
                <a:latin typeface="Calibri"/>
              </a:rPr>
              <a:t>SEC-3</a:t>
            </a:r>
          </a:p>
        </p:txBody>
      </p:sp>
      <p:sp>
        <p:nvSpPr>
          <p:cNvPr id="64" name="5-Point Star 63"/>
          <p:cNvSpPr/>
          <p:nvPr/>
        </p:nvSpPr>
        <p:spPr>
          <a:xfrm>
            <a:off x="10515600" y="4114800"/>
            <a:ext cx="640080" cy="640080"/>
          </a:xfrm>
          <a:prstGeom prst="star5">
            <a:avLst/>
          </a:prstGeom>
          <a:solidFill>
            <a:srgbClr val="B22222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10378440" y="4800600"/>
            <a:ext cx="9144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B22222"/>
                </a:solidFill>
                <a:latin typeface="Calibri"/>
              </a:rPr>
              <a:t>SEC-4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537960" y="5440680"/>
            <a:ext cx="5212080" cy="6858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1">
                <a:solidFill>
                  <a:srgbClr val="2C7FB8"/>
                </a:solidFill>
                <a:latin typeface="Calibri"/>
              </a:rPr>
              <a:t>4 shared regional secondaries.
Dispatch routes the closest unit — regardless of town lines.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" y="6537960"/>
            <a:ext cx="11430000" cy="2743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777777"/>
                </a:solidFill>
                <a:latin typeface="Calibri"/>
              </a:rPr>
              <a:t>Methodology: P-Median facility location (Amazon logistics) · Erlang-C queuing (call-center staffing) · OpenRouteService drive-time validation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11111"/>
                </a:solidFill>
                <a:latin typeface="Calibri"/>
              </a:rPr>
              <a:t>From Fragmented Backup to Regional Resilience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594360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B22222"/>
                </a:solidFill>
                <a:latin typeface="Calibri"/>
              </a:rPr>
              <a:t>BEFORE — Fragmented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94360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555555"/>
                </a:solidFill>
                <a:latin typeface="Calibri"/>
              </a:rPr>
              <a:t>41 times in 2024, a caller's primary ambulance was busy AND the department had no backup.</a:t>
            </a:r>
          </a:p>
        </p:txBody>
      </p:sp>
      <p:pic>
        <p:nvPicPr>
          <p:cNvPr id="5" name="Picture 4" descr="pitch_slide4_bars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011680"/>
            <a:ext cx="6309360" cy="4206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0" y="1005840"/>
            <a:ext cx="512064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C7FB8"/>
                </a:solidFill>
                <a:latin typeface="Calibri"/>
              </a:rPr>
              <a:t>AFTER — K=4 Regional Network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1417320"/>
            <a:ext cx="512064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555555"/>
                </a:solidFill>
                <a:latin typeface="Calibri"/>
              </a:rPr>
              <a:t>4 regional secondary stations overlay existing primaries.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0" y="2011680"/>
            <a:ext cx="5120640" cy="1325880"/>
          </a:xfrm>
          <a:prstGeom prst="roundRect">
            <a:avLst/>
          </a:prstGeom>
          <a:solidFill>
            <a:srgbClr val="F0F8FF"/>
          </a:solidFill>
          <a:ln w="25400">
            <a:solidFill>
              <a:srgbClr val="2C7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903720" y="2121408"/>
            <a:ext cx="484632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555555"/>
                </a:solidFill>
                <a:latin typeface="Calibri"/>
              </a:rPr>
              <a:t>Demand covered ≤14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03720" y="2514600"/>
            <a:ext cx="182880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777777"/>
                </a:solidFill>
                <a:latin typeface="Calibri"/>
              </a:rPr>
              <a:t>Today: 32%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778240" y="2697480"/>
            <a:ext cx="365760" cy="0"/>
          </a:xfrm>
          <a:prstGeom prst="line">
            <a:avLst/>
          </a:prstGeom>
          <a:ln w="38100">
            <a:solidFill>
              <a:srgbClr val="2C7FB8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281160" y="2514600"/>
            <a:ext cx="201168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C7FB8"/>
                </a:solidFill>
                <a:latin typeface="Calibri"/>
              </a:rPr>
              <a:t>K=4: 75%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3720" y="2926080"/>
            <a:ext cx="475488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1" i="0">
                <a:solidFill>
                  <a:srgbClr val="2C7FB8"/>
                </a:solidFill>
                <a:latin typeface="Calibri"/>
              </a:rPr>
              <a:t>+43 pts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6560" y="3429000"/>
            <a:ext cx="5120640" cy="1325880"/>
          </a:xfrm>
          <a:prstGeom prst="roundRect">
            <a:avLst/>
          </a:prstGeom>
          <a:solidFill>
            <a:srgbClr val="F0F8FF"/>
          </a:solidFill>
          <a:ln w="25400">
            <a:solidFill>
              <a:srgbClr val="2C7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903720" y="3538728"/>
            <a:ext cx="484632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555555"/>
                </a:solidFill>
                <a:latin typeface="Calibri"/>
              </a:rPr>
              <a:t>Avg secondary response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3931920"/>
            <a:ext cx="182880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777777"/>
                </a:solidFill>
                <a:latin typeface="Calibri"/>
              </a:rPr>
              <a:t>Today: 16.6 min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778240" y="4114800"/>
            <a:ext cx="365760" cy="0"/>
          </a:xfrm>
          <a:prstGeom prst="line">
            <a:avLst/>
          </a:prstGeom>
          <a:ln w="38100">
            <a:solidFill>
              <a:srgbClr val="2C7FB8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281160" y="3931920"/>
            <a:ext cx="201168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C7FB8"/>
                </a:solidFill>
                <a:latin typeface="Calibri"/>
              </a:rPr>
              <a:t>K=4: 10.8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4343400"/>
            <a:ext cx="475488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1" i="0">
                <a:solidFill>
                  <a:srgbClr val="2C7FB8"/>
                </a:solidFill>
                <a:latin typeface="Calibri"/>
              </a:rPr>
              <a:t>−5.8 min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66560" y="4846320"/>
            <a:ext cx="5120640" cy="1325880"/>
          </a:xfrm>
          <a:prstGeom prst="roundRect">
            <a:avLst/>
          </a:prstGeom>
          <a:solidFill>
            <a:srgbClr val="F5FFF5"/>
          </a:solidFill>
          <a:ln w="25400">
            <a:solidFill>
              <a:srgbClr val="228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903720" y="4956048"/>
            <a:ext cx="484632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555555"/>
                </a:solidFill>
                <a:latin typeface="Calibri"/>
              </a:rPr>
              <a:t>All-busy events closed by overflow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5349240"/>
            <a:ext cx="182880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777777"/>
                </a:solidFill>
                <a:latin typeface="Calibri"/>
              </a:rPr>
              <a:t>Today: 41 / yr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778240" y="5532120"/>
            <a:ext cx="365760" cy="0"/>
          </a:xfrm>
          <a:prstGeom prst="line">
            <a:avLst/>
          </a:prstGeom>
          <a:ln w="38100">
            <a:solidFill>
              <a:srgbClr val="228B22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9281160" y="5349240"/>
            <a:ext cx="201168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28B22"/>
                </a:solidFill>
                <a:latin typeface="Calibri"/>
              </a:rPr>
              <a:t>K=4: ≤5 / yr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5760720"/>
            <a:ext cx="475488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1" i="0">
                <a:solidFill>
                  <a:srgbClr val="228B22"/>
                </a:solidFill>
                <a:latin typeface="Calibri"/>
              </a:rPr>
              <a:t>−36 events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537960"/>
            <a:ext cx="11430000" cy="2743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777777"/>
                </a:solidFill>
                <a:latin typeface="Calibri"/>
              </a:rPr>
              <a:t>Before: K=2 MCLP T=10 baseline for current fragmented mutual-aid · After: K=4 P-Median optimization, total demand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3800" b="1" i="0">
                <a:solidFill>
                  <a:srgbClr val="111111"/>
                </a:solidFill>
                <a:latin typeface="Calibri"/>
              </a:rPr>
              <a:t>The Bottom Line — For the Patient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1">
                <a:solidFill>
                  <a:srgbClr val="555555"/>
                </a:solidFill>
                <a:latin typeface="Calibri"/>
              </a:rPr>
              <a:t>In the language that matters to a 911 caller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18007" y="1737360"/>
            <a:ext cx="3566160" cy="4754880"/>
          </a:xfrm>
          <a:prstGeom prst="roundRect">
            <a:avLst/>
          </a:prstGeom>
          <a:solidFill>
            <a:srgbClr val="FFF5F5"/>
          </a:solidFill>
          <a:ln w="38100">
            <a:solidFill>
              <a:srgbClr val="B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18007" y="2011680"/>
            <a:ext cx="356616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B22222"/>
                </a:solidFill>
                <a:latin typeface="Calibri"/>
              </a:rPr>
              <a:t>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8007" y="2651760"/>
            <a:ext cx="3566160" cy="11887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0" b="1" i="0">
                <a:solidFill>
                  <a:srgbClr val="B22222"/>
                </a:solidFill>
                <a:latin typeface="Calibri"/>
              </a:rPr>
              <a:t>−5.8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8007" y="4023360"/>
            <a:ext cx="3566160" cy="9144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11111"/>
                </a:solidFill>
                <a:latin typeface="Calibri"/>
              </a:rPr>
              <a:t>Faster response during
concurrent calls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8007" y="5120640"/>
            <a:ext cx="3566160" cy="11887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1">
                <a:solidFill>
                  <a:srgbClr val="555555"/>
                </a:solidFill>
                <a:latin typeface="Calibri"/>
              </a:rPr>
              <a:t>16.6 min → 10.8 min.
In cardiac arrest, this is
the difference that matters.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2767" y="1737360"/>
            <a:ext cx="3566160" cy="4754880"/>
          </a:xfrm>
          <a:prstGeom prst="roundRect">
            <a:avLst/>
          </a:prstGeom>
          <a:solidFill>
            <a:srgbClr val="F0F8FF"/>
          </a:solidFill>
          <a:ln w="38100">
            <a:solidFill>
              <a:srgbClr val="2C7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312767" y="2011680"/>
            <a:ext cx="356616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2C7FB8"/>
                </a:solidFill>
                <a:latin typeface="Calibri"/>
              </a:rPr>
              <a:t>QUALITY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2767" y="2651760"/>
            <a:ext cx="3566160" cy="11887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0" b="1" i="0">
                <a:solidFill>
                  <a:srgbClr val="2C7FB8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2767" y="4023360"/>
            <a:ext cx="3566160" cy="9144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11111"/>
                </a:solidFill>
                <a:latin typeface="Calibri"/>
              </a:rPr>
              <a:t>Unified medical protocol,
county-wide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2767" y="5120640"/>
            <a:ext cx="3566160" cy="11887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1">
                <a:solidFill>
                  <a:srgbClr val="555555"/>
                </a:solidFill>
                <a:latin typeface="Calibri"/>
              </a:rPr>
              <a:t>Today: 12 separate protocols.
Tomorrow: every patient gets
the same standard of care.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527" y="1737360"/>
            <a:ext cx="3566160" cy="4754880"/>
          </a:xfrm>
          <a:prstGeom prst="roundRect">
            <a:avLst/>
          </a:prstGeom>
          <a:solidFill>
            <a:srgbClr val="F5FFF5"/>
          </a:solidFill>
          <a:ln w="38100">
            <a:solidFill>
              <a:srgbClr val="228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107527" y="2011680"/>
            <a:ext cx="356616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228B22"/>
                </a:solidFill>
                <a:latin typeface="Calibri"/>
              </a:rPr>
              <a:t>COVERAGE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07527" y="2651760"/>
            <a:ext cx="3566160" cy="11887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0" b="1" i="0">
                <a:solidFill>
                  <a:srgbClr val="228B22"/>
                </a:solidFill>
                <a:latin typeface="Calibri"/>
              </a:rPr>
              <a:t>41 →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07527" y="4023360"/>
            <a:ext cx="3566160" cy="9144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11111"/>
                </a:solidFill>
                <a:latin typeface="Calibri"/>
              </a:rPr>
              <a:t>All-busy events closed
per year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07527" y="5120640"/>
            <a:ext cx="3566160" cy="11887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1">
                <a:solidFill>
                  <a:srgbClr val="555555"/>
                </a:solidFill>
                <a:latin typeface="Calibri"/>
              </a:rPr>
              <a:t>No Jefferson County resident
waits for mutual aid from
another county.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83680"/>
            <a:ext cx="11247120" cy="2743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1">
                <a:solidFill>
                  <a:srgbClr val="555555"/>
                </a:solidFill>
                <a:latin typeface="Calibri"/>
              </a:rPr>
              <a:t>We're not asking for funding. We're asking for partnership as the Jefferson County EMS Working Group moves into implementation.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0"/>
            <a:ext cx="11247120" cy="13716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0" b="1" i="0">
                <a:solidFill>
                  <a:srgbClr val="111111"/>
                </a:solidFill>
                <a:latin typeface="Calibri"/>
              </a:rPr>
              <a:t>Thank You.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834640"/>
            <a:ext cx="9418320" cy="9144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1">
                <a:solidFill>
                  <a:srgbClr val="2C7FB8"/>
                </a:solidFill>
                <a:latin typeface="Calibri"/>
              </a:rPr>
              <a:t>Partnership and feedback as the Jefferson County EMS Working Group moves into implementation.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206240"/>
            <a:ext cx="941832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11111"/>
                </a:solidFill>
                <a:latin typeface="Calibri"/>
              </a:rPr>
              <a:t>ISyE 450 Capstone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663440"/>
            <a:ext cx="9418320" cy="5486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555555"/>
                </a:solidFill>
                <a:latin typeface="Calibri"/>
              </a:rPr>
              <a:t>[Team member 1]    [Team member 2]    [Team member 3]    [Team member 4]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394960"/>
            <a:ext cx="941832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1">
                <a:solidFill>
                  <a:srgbClr val="777777"/>
                </a:solidFill>
                <a:latin typeface="Calibri"/>
              </a:rPr>
              <a:t>Questions? We have backup slides on sensitivity, staffing scenarios, and dispatch protocols.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537960"/>
            <a:ext cx="11430000" cy="2743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777777"/>
                </a:solidFill>
                <a:latin typeface="Calibri"/>
              </a:rPr>
              <a:t>University of Wisconsin–Madison · ISyE 450 · April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