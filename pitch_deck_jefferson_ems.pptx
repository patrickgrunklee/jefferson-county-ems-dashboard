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1_ancho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1170432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11111"/>
                </a:solidFill>
                <a:latin typeface="Calibri"/>
              </a:rPr>
              <a:t>ISyE 450 Capstone  |  Team: [Your names here]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77777"/>
                </a:solidFill>
                <a:latin typeface="Calibri"/>
              </a:rPr>
              <a:t>Data: CY2024 NFIRS (n=8,396 EMS calls, Jefferson geography) · P-Median + ORS road-network isochrones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11111"/>
                </a:solidFill>
                <a:latin typeface="Calibri"/>
              </a:rPr>
              <a:t>The Bottleneck: 12 Half-Empty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Each of Jefferson County's 12 departments funds its own backup ambulance — used 10-15% of the time, yet still leaving 41 coverage gaps per year.</a:t>
            </a:r>
          </a:p>
        </p:txBody>
      </p:sp>
      <p:pic>
        <p:nvPicPr>
          <p:cNvPr id="4" name="Picture 3" descr="secondary_demand_by_dept_jeff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17373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22222"/>
                </a:solidFill>
                <a:latin typeface="Calibri"/>
              </a:rPr>
              <a:t>THE KEY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21945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Calibri"/>
              </a:rPr>
              <a:t>21  all-busy events/yr
     in Ixonia alone
     (≈ once every 2.5 weeks)
12  all-busy events/yr
     in Waterloo
41  total countywide
     where NO ambulance
     was available
— Every one of these calls
waits for mutual aid from
another county.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77777"/>
                </a:solidFill>
                <a:latin typeface="Calibri"/>
              </a:rPr>
              <a:t>Source: CY2024 NFIRS concurrent-call analysis · Jefferson County geography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3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11643055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77777"/>
                </a:solidFill>
                <a:latin typeface="Calibri"/>
              </a:rPr>
              <a:t>Methodology: P-Median (facility location) + Erlang-C (queuing) + OpenRouteService (road-network drive times)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4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11643055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77777"/>
                </a:solidFill>
                <a:latin typeface="Calibri"/>
              </a:rPr>
              <a:t>Before: K=2 MCLP T=10 proxy for current patchwork mutual-aid · After: K=4 P-Median optimization on total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itch_slide5_bottom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"/>
            <a:ext cx="11643055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77777"/>
                </a:solidFill>
                <a:latin typeface="Calibri"/>
              </a:rPr>
              <a:t>All figures framed as patient-outcome deltas. Financial model available on request (cost-neutral at hybrid staffing).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11111"/>
                </a:solidFill>
                <a:latin typeface="Calibri"/>
              </a:rPr>
              <a:t>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65176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2C7FB8"/>
                </a:solidFill>
                <a:latin typeface="Calibri"/>
              </a:rPr>
              <a:t>We're asking for feedback and partnership as the Jefferson County EMS Working Group moves into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11111"/>
                </a:solidFill>
                <a:latin typeface="Calibri"/>
              </a:rPr>
              <a:t>ISyE 450 Capstone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[Team member 1]    [Team member 2]    [Team member 3]    [Team member 4]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77777"/>
                </a:solidFill>
                <a:latin typeface="Calibri"/>
              </a:rPr>
              <a:t>Questions? We have backup slides on sensitivity, staffing scenarios, and dispatch protocols.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777777"/>
                </a:solidFill>
                <a:latin typeface="Calibri"/>
              </a:rPr>
              <a:t>University of Wisconsin–Madison · ISyE 450 ·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