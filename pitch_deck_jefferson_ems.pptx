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_slide1_anch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22960"/>
            <a:ext cx="1170432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11111"/>
                </a:solidFill>
                <a:latin typeface="Calibri"/>
              </a:rPr>
              <a:t>ISyE 450 Capstone — Jefferson County 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555555"/>
                </a:solidFill>
                <a:latin typeface="Calibri"/>
              </a:rPr>
              <a:t>Team: [Your names here]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Data: CY2024 NFIRS (n=8,396 EMS calls, Jefferson geography) · P-Median optimization · OpenRouteService road-network isochrones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11111"/>
                </a:solidFill>
                <a:latin typeface="Calibri"/>
              </a:rPr>
              <a:t>The Bottleneck: 12 Half-Empty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55555"/>
                </a:solidFill>
                <a:latin typeface="Calibri"/>
              </a:rPr>
              <a:t>Each of Jefferson County's 12 departments funds its own backup ambulance — used 10–15% of the time, yet still leaving 41 coverage gaps per year.</a:t>
            </a:r>
          </a:p>
        </p:txBody>
      </p:sp>
      <p:pic>
        <p:nvPicPr>
          <p:cNvPr id="4" name="Picture 3" descr="secondary_demand_by_dept_jeff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737360"/>
            <a:ext cx="3566160" cy="45720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0" y="1874519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22222"/>
                </a:solidFill>
                <a:latin typeface="Calibri"/>
              </a:rPr>
              <a:t>THE KEY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331720"/>
            <a:ext cx="3200400" cy="3840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21</a:t>
            </a:r>
          </a:p>
          <a:p>
            <a:pPr algn="l">
              <a:spcAft>
                <a:spcPts val="12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all-busy events / year
in Ixonia (≈ once / 2.5 weeks)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12</a:t>
            </a:r>
          </a:p>
          <a:p>
            <a:pPr algn="l">
              <a:spcAft>
                <a:spcPts val="12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all-busy events / year
in Waterloo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41</a:t>
            </a:r>
          </a:p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countywide — NO ambulance
was available for that 911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Source: CY2024 NFIRS concurrent-call analysis · Jefferson County geography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11111"/>
                </a:solidFill>
                <a:latin typeface="Calibri"/>
              </a:rPr>
              <a:t>The IE Intervention: Hybrid Local + Regional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C7FB8"/>
                </a:solidFill>
                <a:latin typeface="Calibri"/>
              </a:rPr>
              <a:t>Primaries stay local. Secondaries go regional. Dispatch routes whichever unit reaches the patient fastest.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45720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3035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B22222"/>
                </a:solidFill>
                <a:latin typeface="Calibri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3035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12 independent departments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19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7219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19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7219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19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19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306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2306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5166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2306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5166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2306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890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2890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750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2890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5750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2890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474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3474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63339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3474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63339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3474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4058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4058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6918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4058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6918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4058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39496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1">
                <a:solidFill>
                  <a:srgbClr val="B22222"/>
                </a:solidFill>
                <a:latin typeface="Calibri"/>
              </a:rPr>
              <a:t>Each department funds its own backup.
Still 41 all-busy events per year.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97880" y="3840480"/>
            <a:ext cx="548640" cy="0"/>
          </a:xfrm>
          <a:prstGeom prst="line">
            <a:avLst/>
          </a:prstGeom>
          <a:ln w="50800">
            <a:solidFill>
              <a:srgbClr val="111111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537960" y="1645920"/>
            <a:ext cx="5212080" cy="45720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37960" y="1737360"/>
            <a:ext cx="52120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C7FB8"/>
                </a:solidFill>
                <a:latin typeface="Calibri"/>
              </a:rPr>
              <a:t>PROPOSED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219456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Local primaries + 4 shared regional secondaries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08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8808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551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77952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952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695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87096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7096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839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96240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6240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983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105384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5384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8127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37960" y="3703320"/>
            <a:ext cx="52120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2C7FB8"/>
                </a:solidFill>
                <a:latin typeface="Calibri"/>
              </a:rPr>
              <a:t>Primaries stay local — autonomy preserved</a:t>
            </a:r>
          </a:p>
        </p:txBody>
      </p:sp>
      <p:sp>
        <p:nvSpPr>
          <p:cNvPr id="58" name="5-Point Star 57"/>
          <p:cNvSpPr/>
          <p:nvPr/>
        </p:nvSpPr>
        <p:spPr>
          <a:xfrm>
            <a:off x="749807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6091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SEC-1</a:t>
            </a:r>
          </a:p>
        </p:txBody>
      </p:sp>
      <p:sp>
        <p:nvSpPr>
          <p:cNvPr id="60" name="5-Point Star 59"/>
          <p:cNvSpPr/>
          <p:nvPr/>
        </p:nvSpPr>
        <p:spPr>
          <a:xfrm>
            <a:off x="850391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36675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SEC-2</a:t>
            </a:r>
          </a:p>
        </p:txBody>
      </p:sp>
      <p:sp>
        <p:nvSpPr>
          <p:cNvPr id="62" name="5-Point Star 61"/>
          <p:cNvSpPr/>
          <p:nvPr/>
        </p:nvSpPr>
        <p:spPr>
          <a:xfrm>
            <a:off x="950975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37259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SEC-3</a:t>
            </a:r>
          </a:p>
        </p:txBody>
      </p:sp>
      <p:sp>
        <p:nvSpPr>
          <p:cNvPr id="64" name="5-Point Star 63"/>
          <p:cNvSpPr/>
          <p:nvPr/>
        </p:nvSpPr>
        <p:spPr>
          <a:xfrm>
            <a:off x="10515600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378440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5440680"/>
            <a:ext cx="5212080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1">
                <a:solidFill>
                  <a:srgbClr val="2C7FB8"/>
                </a:solidFill>
                <a:latin typeface="Calibri"/>
              </a:rPr>
              <a:t>4 shared regional secondaries.
Dispatch routes the closest unit — regardless of town lines.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Methodology: P-Median facility location (Amazon logistics) · Erlang-C queuing (call-center staffing) · OpenRouteService drive-time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11111"/>
                </a:solidFill>
                <a:latin typeface="Calibri"/>
              </a:rPr>
              <a:t>From Fragmented Backup to Regional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943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B22222"/>
                </a:solidFill>
                <a:latin typeface="Calibri"/>
              </a:rPr>
              <a:t>BEFORE — Fragmented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943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41 times in 2024, a caller's primary ambulance was busy AND the department had no backup.</a:t>
            </a:r>
          </a:p>
        </p:txBody>
      </p:sp>
      <p:pic>
        <p:nvPicPr>
          <p:cNvPr id="5" name="Picture 4" descr="pitch_slide4_bars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11680"/>
            <a:ext cx="630936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0584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C7FB8"/>
                </a:solidFill>
                <a:latin typeface="Calibri"/>
              </a:rPr>
              <a:t>AFTER — K=4 Regional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41732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4 regional secondary stations overlay existing primaries.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011680"/>
            <a:ext cx="5120640" cy="132588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03720" y="212140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Demand covered ≤14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51460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32%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78240" y="2697480"/>
            <a:ext cx="365760" cy="0"/>
          </a:xfrm>
          <a:prstGeom prst="line">
            <a:avLst/>
          </a:prstGeom>
          <a:ln w="38100">
            <a:solidFill>
              <a:srgbClr val="2C7F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81160" y="251460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K=4: 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92608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+43 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29000"/>
            <a:ext cx="5120640" cy="132588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03720" y="353872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Avg secondary response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93192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16.6 min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0" y="4114800"/>
            <a:ext cx="365760" cy="0"/>
          </a:xfrm>
          <a:prstGeom prst="line">
            <a:avLst/>
          </a:prstGeom>
          <a:ln w="38100">
            <a:solidFill>
              <a:srgbClr val="2C7F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281160" y="393192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K=4: 10.8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34340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−5.8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846320"/>
            <a:ext cx="5120640" cy="132588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03720" y="495604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All-busy events closed by overflow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34924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41 / yr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0" y="5532120"/>
            <a:ext cx="365760" cy="0"/>
          </a:xfrm>
          <a:prstGeom prst="line">
            <a:avLst/>
          </a:prstGeom>
          <a:ln w="38100">
            <a:solidFill>
              <a:srgbClr val="228B2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281160" y="53492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28B22"/>
                </a:solidFill>
                <a:latin typeface="Calibri"/>
              </a:rPr>
              <a:t>K=4: ≤5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76072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28B22"/>
                </a:solidFill>
                <a:latin typeface="Calibri"/>
              </a:rPr>
              <a:t>−36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Before: K=2 MCLP T=10 baseline for current fragmented mutual-aid · After: K=4 P-Median optimization, total demand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111111"/>
                </a:solidFill>
                <a:latin typeface="Calibri"/>
              </a:rPr>
              <a:t>The Bottom Line — For the Patient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555555"/>
                </a:solidFill>
                <a:latin typeface="Calibri"/>
              </a:rPr>
              <a:t>In the language that matters to a 911 caller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8007" y="1737360"/>
            <a:ext cx="3566160" cy="47548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22222"/>
                </a:solidFill>
                <a:latin typeface="Calibri"/>
              </a:rPr>
              <a:t>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B22222"/>
                </a:solidFill>
                <a:latin typeface="Calibri"/>
              </a:rPr>
              <a:t>−5.8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00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Faster response during
concurrent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00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16.6 min → 10.8 min.
In cardiac arrest, this is
the difference that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767" y="1737360"/>
            <a:ext cx="3566160" cy="4754880"/>
          </a:xfrm>
          <a:prstGeom prst="roundRect">
            <a:avLst/>
          </a:prstGeom>
          <a:solidFill>
            <a:srgbClr val="F0F8FF"/>
          </a:solidFill>
          <a:ln w="381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C7FB8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2C7FB8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276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Unified medical protocol,
county-wide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276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Today: 12 separate protocols.
Tomorrow: every patient gets
the same standard of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527" y="1737360"/>
            <a:ext cx="3566160" cy="4754880"/>
          </a:xfrm>
          <a:prstGeom prst="roundRect">
            <a:avLst/>
          </a:prstGeom>
          <a:solidFill>
            <a:srgbClr val="F5FFF5"/>
          </a:solidFill>
          <a:ln w="381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28B22"/>
                </a:solidFill>
                <a:latin typeface="Calibri"/>
              </a:rPr>
              <a:t>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752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228B22"/>
                </a:solidFill>
                <a:latin typeface="Calibri"/>
              </a:rPr>
              <a:t>41 →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52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All-busy events closed
per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752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No Jefferson County resident
waits for mutual aid from
another county.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555555"/>
                </a:solidFill>
                <a:latin typeface="Calibri"/>
              </a:rPr>
              <a:t>We're not asking for funding. We're asking for partnership as the Jefferson County EMS Working Group moves into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The Business Case: Same Spend, Dramatically Better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Built on Chief Peterson's 24/7 ALS single-unit cost model (6 FTEs, 24/48 schedule, 700 calls/yr)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3657600" cy="41148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22222"/>
                </a:solidFill>
                <a:latin typeface="Calibri"/>
              </a:rPr>
              <a:t>TODAY — Fragmented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Current distributed overhead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97480"/>
            <a:ext cx="3383280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B22222"/>
                </a:solidFill>
                <a:latin typeface="Calibri"/>
              </a:rPr>
              <a:t>$2.36M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20440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per year, across 7 departments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977639"/>
            <a:ext cx="3291840" cy="0"/>
          </a:xfrm>
          <a:prstGeom prst="bentConnector3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114800"/>
            <a:ext cx="329184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55555"/>
                </a:solidFill>
                <a:latin typeface="Calibri"/>
              </a:rPr>
              <a:t>What that buys today: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• 12 independent backup ambulances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• 10–15% utilization per unit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B22222"/>
                </a:solidFill>
                <a:latin typeface="Calibri"/>
              </a:rPr>
              <a:t>• 41 all-busy gaps per year</a:t>
            </a:r>
          </a:p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• Only 32% of concurrent demand covered ≤14 min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0" y="3657600"/>
            <a:ext cx="365760" cy="0"/>
          </a:xfrm>
          <a:prstGeom prst="line">
            <a:avLst/>
          </a:prstGeom>
          <a:ln w="50800">
            <a:solidFill>
              <a:srgbClr val="111111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23360" y="3200400"/>
            <a:ext cx="822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1">
                <a:solidFill>
                  <a:srgbClr val="111111"/>
                </a:solidFill>
                <a:latin typeface="Calibri"/>
              </a:rPr>
              <a:t>Same
budget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737360"/>
            <a:ext cx="6903720" cy="4114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1874519"/>
            <a:ext cx="6903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C7FB8"/>
                </a:solidFill>
                <a:latin typeface="Calibri"/>
              </a:rPr>
              <a:t>TOMORROW — Regional (K=4)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6048" y="2423160"/>
            <a:ext cx="2148840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6048" y="2514600"/>
            <a:ext cx="21488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7FB8"/>
                </a:solidFill>
                <a:latin typeface="Calibri"/>
              </a:rPr>
              <a:t>Scenario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2834640"/>
            <a:ext cx="21488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All 4 stations 24/7 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383280"/>
            <a:ext cx="2148840" cy="502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C7FB8"/>
                </a:solidFill>
                <a:latin typeface="Calibri"/>
              </a:rPr>
              <a:t>$1.00M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3886200"/>
            <a:ext cx="214884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net /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4206240"/>
            <a:ext cx="205740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Operating: $2.87M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Revenue:  $1.86M</a:t>
            </a:r>
          </a:p>
          <a:p>
            <a:pPr algn="ctr"/>
            <a:r>
              <a:rPr sz="1000" b="1" i="0">
                <a:solidFill>
                  <a:srgbClr val="111111"/>
                </a:solidFill>
                <a:latin typeface="Calibri"/>
              </a:rPr>
              <a:t>29 FTE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4892040"/>
            <a:ext cx="196596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555555"/>
                </a:solidFill>
                <a:latin typeface="Calibri"/>
              </a:rPr>
              <a:t>Maximum coverage.
Higher cost; delivers ≤14-min
coverage to 75% of demand.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14616" y="2423160"/>
            <a:ext cx="2148840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14616" y="2514600"/>
            <a:ext cx="21488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7FB8"/>
                </a:solidFill>
                <a:latin typeface="Calibri"/>
              </a:rPr>
              <a:t>Scenario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4616" y="2834640"/>
            <a:ext cx="21488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All 4 peak-only (8 AM–8 PM)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3383280"/>
            <a:ext cx="2148840" cy="502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C7FB8"/>
                </a:solidFill>
                <a:latin typeface="Calibri"/>
              </a:rPr>
              <a:t>$851K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886200"/>
            <a:ext cx="214884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net /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0336" y="4206240"/>
            <a:ext cx="205740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Operating: $2.06M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Revenue:  $1.21M</a:t>
            </a:r>
          </a:p>
          <a:p>
            <a:pPr algn="ctr"/>
            <a:r>
              <a:rPr sz="1000" b="1" i="0">
                <a:solidFill>
                  <a:srgbClr val="111111"/>
                </a:solidFill>
                <a:latin typeface="Calibri"/>
              </a:rPr>
              <a:t>19 FTE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6056" y="4892040"/>
            <a:ext cx="196596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555555"/>
                </a:solidFill>
                <a:latin typeface="Calibri"/>
              </a:rPr>
              <a:t>Peak-hour focus — covers
90% of call volume during
the 12-hour daytime window.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73184" y="2423160"/>
            <a:ext cx="2148840" cy="3246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3184" y="2514600"/>
            <a:ext cx="21488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28B22"/>
                </a:solidFill>
                <a:latin typeface="Calibri"/>
              </a:rPr>
              <a:t>Scenario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2834640"/>
            <a:ext cx="21488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Hybrid: 1×24/7 + 3×peak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3383280"/>
            <a:ext cx="2148840" cy="502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28B22"/>
                </a:solidFill>
                <a:latin typeface="Calibri"/>
              </a:rPr>
              <a:t>$902K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3886200"/>
            <a:ext cx="214884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net / year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18904" y="4206240"/>
            <a:ext cx="205740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Operating: $2.33M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Revenue:  $1.43M</a:t>
            </a:r>
          </a:p>
          <a:p>
            <a:pPr algn="ctr"/>
            <a:r>
              <a:rPr sz="1000" b="1" i="0">
                <a:solidFill>
                  <a:srgbClr val="111111"/>
                </a:solidFill>
                <a:latin typeface="Calibri"/>
              </a:rPr>
              <a:t>22 FTE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4892040"/>
            <a:ext cx="196596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555555"/>
                </a:solidFill>
                <a:latin typeface="Calibri"/>
              </a:rPr>
              <a:t>Recommended balance.
24/7 anchor + peak-only
coverage where demand spikes.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73184" y="2167128"/>
            <a:ext cx="214884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28B22"/>
                </a:solidFill>
                <a:latin typeface="Calibri"/>
              </a:rPr>
              <a:t>★ RECOMMENDED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1">
                <a:solidFill>
                  <a:srgbClr val="111111"/>
                </a:solidFill>
                <a:latin typeface="Calibri"/>
              </a:rPr>
              <a:t>The hybrid regional network costs ≈ $900K net — within the envelope the county already spends on fragmented backup.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Source: Chief Peterson 24/7 ALS cost projection (6 FTEs, 700 calls/yr) scaled to K=4 · Current distributed overhead estimated from 7-dept staffing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>
                <a:solidFill>
                  <a:srgbClr val="111111"/>
                </a:solidFill>
                <a:latin typeface="Calibri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834640"/>
            <a:ext cx="941832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2C7FB8"/>
                </a:solidFill>
                <a:latin typeface="Calibri"/>
              </a:rPr>
              <a:t>Partnership and feedback as the Jefferson County EMS Working Group moves into implementation.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1111"/>
                </a:solidFill>
                <a:latin typeface="Calibri"/>
              </a:rPr>
              <a:t>ISyE 450 Capstone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663440"/>
            <a:ext cx="94183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55555"/>
                </a:solidFill>
                <a:latin typeface="Calibri"/>
              </a:rPr>
              <a:t>[Team member 1]    [Team member 2]    [Team member 3]    [Team member 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94960"/>
            <a:ext cx="94183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777777"/>
                </a:solidFill>
                <a:latin typeface="Calibri"/>
              </a:rPr>
              <a:t>Questions? We have backup slides on sensitivity, staffing scenarios, and dispatch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University of Wisconsin–Madison · ISyE 450 ·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